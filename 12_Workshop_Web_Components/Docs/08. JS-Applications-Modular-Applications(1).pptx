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258" r:id="rId4"/>
    <p:sldId id="291" r:id="rId5"/>
    <p:sldId id="293" r:id="rId6"/>
    <p:sldId id="297" r:id="rId7"/>
    <p:sldId id="298" r:id="rId8"/>
    <p:sldId id="295" r:id="rId9"/>
    <p:sldId id="296" r:id="rId10"/>
    <p:sldId id="294" r:id="rId11"/>
    <p:sldId id="287" r:id="rId12"/>
    <p:sldId id="632" r:id="rId13"/>
    <p:sldId id="615" r:id="rId14"/>
    <p:sldId id="289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D6788CF-D2B2-413C-98B9-503039D75516}">
          <p14:sldIdLst>
            <p14:sldId id="256"/>
            <p14:sldId id="290"/>
            <p14:sldId id="258"/>
          </p14:sldIdLst>
        </p14:section>
        <p14:section name="Techniques and Practices" id="{0F66D677-C2EC-4851-93C5-795445298EEE}">
          <p14:sldIdLst>
            <p14:sldId id="291"/>
            <p14:sldId id="293"/>
            <p14:sldId id="297"/>
            <p14:sldId id="298"/>
            <p14:sldId id="295"/>
            <p14:sldId id="296"/>
            <p14:sldId id="294"/>
          </p14:sldIdLst>
        </p14:section>
        <p14:section name="Conclusion" id="{501A4BFC-942E-49DF-9576-647C169850BD}">
          <p14:sldIdLst>
            <p14:sldId id="287"/>
            <p14:sldId id="632"/>
            <p14:sldId id="615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5214" autoAdjust="0"/>
  </p:normalViewPr>
  <p:slideViewPr>
    <p:cSldViewPr showGuides="1">
      <p:cViewPr varScale="1">
        <p:scale>
          <a:sx n="86" d="100"/>
          <a:sy n="86" d="100"/>
        </p:scale>
        <p:origin x="605" y="67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30.10.2022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10/30/2022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2870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34717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73154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5230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63511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6191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Top">
            <a:extLst>
              <a:ext uri="{FF2B5EF4-FFF2-40B4-BE49-F238E27FC236}">
                <a16:creationId xmlns:a16="http://schemas.microsoft.com/office/drawing/2014/main" id="{454BD9C2-93A6-4860-A758-846ED0E1C8FA}"/>
              </a:ext>
            </a:extLst>
          </p:cNvPr>
          <p:cNvSpPr/>
          <p:nvPr userDrawn="1"/>
        </p:nvSpPr>
        <p:spPr>
          <a:xfrm>
            <a:off x="0" y="0"/>
            <a:ext cx="12192000" cy="1095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9906000" y="0"/>
            <a:ext cx="2290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7152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7220" y="1121143"/>
            <a:ext cx="9878013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0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4854" y="1121143"/>
            <a:ext cx="10080382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236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gacy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656B1-5977-476C-B4D0-0644CB7AA9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068" t="29627" r="44723" b="30341"/>
          <a:stretch/>
        </p:blipFill>
        <p:spPr>
          <a:xfrm>
            <a:off x="-3478" y="0"/>
            <a:ext cx="1155600" cy="685800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4854" y="1121143"/>
            <a:ext cx="10080382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chemeClr val="bg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8" name="Logo Software University" descr="Software University logo">
            <a:extLst>
              <a:ext uri="{FF2B5EF4-FFF2-40B4-BE49-F238E27FC236}">
                <a16:creationId xmlns:a16="http://schemas.microsoft.com/office/drawing/2014/main" id="{5197C268-FA14-4665-8C17-4E607C5458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4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522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99403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5298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https://about.softuni.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02688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84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tx1"/>
        </a:buClr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okerstarscareers.com/" TargetMode="External"/><Relationship Id="rId13" Type="http://schemas.openxmlformats.org/officeDocument/2006/relationships/image" Target="../media/image27.png"/><Relationship Id="rId18" Type="http://schemas.openxmlformats.org/officeDocument/2006/relationships/hyperlink" Target="https://www.softwaregroup.com/" TargetMode="External"/><Relationship Id="rId26" Type="http://schemas.openxmlformats.org/officeDocument/2006/relationships/hyperlink" Target="https://bosch.io/" TargetMode="External"/><Relationship Id="rId3" Type="http://schemas.openxmlformats.org/officeDocument/2006/relationships/image" Target="../media/image22.png"/><Relationship Id="rId21" Type="http://schemas.openxmlformats.org/officeDocument/2006/relationships/image" Target="../media/image31.png"/><Relationship Id="rId7" Type="http://schemas.openxmlformats.org/officeDocument/2006/relationships/image" Target="../media/image24.png"/><Relationship Id="rId12" Type="http://schemas.openxmlformats.org/officeDocument/2006/relationships/hyperlink" Target="https://indeavr.com/" TargetMode="Externa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hyperlink" Target="https://www.postbank.bg/" TargetMode="External"/><Relationship Id="rId16" Type="http://schemas.openxmlformats.org/officeDocument/2006/relationships/hyperlink" Target="https://www.superhosting.bg/" TargetMode="External"/><Relationship Id="rId20" Type="http://schemas.openxmlformats.org/officeDocument/2006/relationships/hyperlink" Target="https://taulia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g.it.schwarz/schwarz-it-bulgaria" TargetMode="External"/><Relationship Id="rId11" Type="http://schemas.openxmlformats.org/officeDocument/2006/relationships/image" Target="../media/image26.png"/><Relationship Id="rId24" Type="http://schemas.openxmlformats.org/officeDocument/2006/relationships/hyperlink" Target="https://smartit.bg/" TargetMode="External"/><Relationship Id="rId5" Type="http://schemas.openxmlformats.org/officeDocument/2006/relationships/image" Target="../media/image23.png"/><Relationship Id="rId15" Type="http://schemas.openxmlformats.org/officeDocument/2006/relationships/image" Target="../media/image28.jpeg"/><Relationship Id="rId23" Type="http://schemas.openxmlformats.org/officeDocument/2006/relationships/image" Target="../media/image32.png"/><Relationship Id="rId10" Type="http://schemas.openxmlformats.org/officeDocument/2006/relationships/hyperlink" Target="https://de.draftkings.com/" TargetMode="External"/><Relationship Id="rId19" Type="http://schemas.openxmlformats.org/officeDocument/2006/relationships/image" Target="../media/image30.png"/><Relationship Id="rId4" Type="http://schemas.openxmlformats.org/officeDocument/2006/relationships/hyperlink" Target="https://www.coca-colahellenic.com/" TargetMode="External"/><Relationship Id="rId9" Type="http://schemas.openxmlformats.org/officeDocument/2006/relationships/image" Target="../media/image25.jpeg"/><Relationship Id="rId14" Type="http://schemas.openxmlformats.org/officeDocument/2006/relationships/hyperlink" Target="https://www.pharvision.ai/" TargetMode="External"/><Relationship Id="rId22" Type="http://schemas.openxmlformats.org/officeDocument/2006/relationships/hyperlink" Target="https://createx.bg/" TargetMode="External"/><Relationship Id="rId27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youtube.com/c/CodeItUpwithIvo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Common Scenarios and Best Practices</a:t>
            </a:r>
            <a:endParaRPr lang="en-US" dirty="0">
              <a:solidFill>
                <a:srgbClr val="23446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Modular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7BF9C-646C-42A5-A41E-30834FFE7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2179306"/>
            <a:ext cx="1936585" cy="27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Component Approach</a:t>
            </a:r>
          </a:p>
          <a:p>
            <a:r>
              <a:rPr lang="en-US" dirty="0"/>
              <a:t>Application State</a:t>
            </a:r>
          </a:p>
          <a:p>
            <a:r>
              <a:rPr lang="en-US" dirty="0"/>
              <a:t>Routing</a:t>
            </a:r>
          </a:p>
          <a:p>
            <a:r>
              <a:rPr lang="en-US" dirty="0"/>
              <a:t>Action Feedback</a:t>
            </a:r>
          </a:p>
          <a:p>
            <a:r>
              <a:rPr lang="en-US" dirty="0"/>
              <a:t>User Input</a:t>
            </a:r>
          </a:p>
          <a:p>
            <a:r>
              <a:rPr lang="en-US" dirty="0"/>
              <a:t>Error Handling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2809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</a:t>
            </a:r>
            <a:r>
              <a:rPr lang="en-US" sz="11500" b="1" dirty="0" err="1"/>
              <a:t>js</a:t>
            </a:r>
            <a:r>
              <a:rPr lang="en-US" sz="11500" b="1" dirty="0"/>
              <a:t>-advanced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</p:spTree>
    <p:extLst>
      <p:ext uri="{BB962C8B-B14F-4D97-AF65-F5344CB8AC3E}">
        <p14:creationId xmlns:p14="http://schemas.microsoft.com/office/powerpoint/2010/main" val="409866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6CCD2FD-F24A-40E6-9831-72EA586C3F9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Common Scenarios and Techniques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E0591A-7E71-48B9-A71C-CBFB6605B34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2B262-840E-44E5-B4EA-D0A755CB1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707" y="1314000"/>
            <a:ext cx="1936585" cy="27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FF5C0-C97E-4AF1-A51D-EF6E6981E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6E6969-3A04-45A6-93FD-6C883D711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Components</a:t>
            </a:r>
            <a:r>
              <a:rPr lang="en-US" dirty="0"/>
              <a:t> are a common theme among contemporary </a:t>
            </a:r>
            <a:r>
              <a:rPr lang="en-US" b="1" dirty="0">
                <a:solidFill>
                  <a:schemeClr val="bg1"/>
                </a:solidFill>
              </a:rPr>
              <a:t>frameworks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libraires</a:t>
            </a:r>
          </a:p>
          <a:p>
            <a:r>
              <a:rPr lang="en-US" dirty="0"/>
              <a:t>Focused on </a:t>
            </a:r>
            <a:r>
              <a:rPr lang="en-US" b="1" dirty="0">
                <a:solidFill>
                  <a:schemeClr val="bg1"/>
                </a:solidFill>
              </a:rPr>
              <a:t>separation of concerns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composability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Combine </a:t>
            </a:r>
            <a:r>
              <a:rPr lang="en-US" b="1" dirty="0">
                <a:solidFill>
                  <a:schemeClr val="bg1"/>
                </a:solidFill>
              </a:rPr>
              <a:t>presentation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style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business logic</a:t>
            </a:r>
            <a:r>
              <a:rPr lang="en-US" dirty="0"/>
              <a:t> in a single unit</a:t>
            </a:r>
          </a:p>
          <a:p>
            <a:pPr lvl="1"/>
            <a:r>
              <a:rPr lang="en-US" dirty="0"/>
              <a:t>Encapsulate </a:t>
            </a:r>
            <a:r>
              <a:rPr lang="en-US" b="1" dirty="0">
                <a:solidFill>
                  <a:schemeClr val="bg1"/>
                </a:solidFill>
              </a:rPr>
              <a:t>state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control</a:t>
            </a:r>
          </a:p>
          <a:p>
            <a:pPr lvl="1"/>
            <a:r>
              <a:rPr lang="en-US" dirty="0"/>
              <a:t>Expose only necessary </a:t>
            </a:r>
            <a:r>
              <a:rPr lang="en-US" b="1" dirty="0">
                <a:solidFill>
                  <a:schemeClr val="bg1"/>
                </a:solidFill>
              </a:rPr>
              <a:t>interfaces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Decoupled</a:t>
            </a:r>
            <a:r>
              <a:rPr lang="en-US" dirty="0"/>
              <a:t> from the environment (via </a:t>
            </a:r>
            <a:r>
              <a:rPr lang="en-US" b="1" dirty="0">
                <a:solidFill>
                  <a:schemeClr val="bg1"/>
                </a:solidFill>
              </a:rPr>
              <a:t>dependency injection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Highly </a:t>
            </a:r>
            <a:r>
              <a:rPr lang="en-US" b="1" dirty="0">
                <a:solidFill>
                  <a:schemeClr val="bg1"/>
                </a:solidFill>
              </a:rPr>
              <a:t>composable</a:t>
            </a:r>
            <a:r>
              <a:rPr lang="en-US" dirty="0"/>
              <a:t> with other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8FF28E-FE4A-4064-96F9-8F2A95B0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Approach</a:t>
            </a:r>
          </a:p>
        </p:txBody>
      </p:sp>
    </p:spTree>
    <p:extLst>
      <p:ext uri="{BB962C8B-B14F-4D97-AF65-F5344CB8AC3E}">
        <p14:creationId xmlns:p14="http://schemas.microsoft.com/office/powerpoint/2010/main" val="282675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695B4-8C8C-43C2-A897-AE21BC880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C73A-AB8C-4A97-88CE-F82B2AC797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Avoid </a:t>
            </a:r>
            <a:r>
              <a:rPr lang="en-US" b="1" dirty="0">
                <a:solidFill>
                  <a:schemeClr val="bg1"/>
                </a:solidFill>
              </a:rPr>
              <a:t>storing state </a:t>
            </a:r>
            <a:r>
              <a:rPr lang="en-US" dirty="0"/>
              <a:t>in the DOM</a:t>
            </a:r>
          </a:p>
          <a:p>
            <a:r>
              <a:rPr lang="en-US" dirty="0"/>
              <a:t>Avoid attempting to </a:t>
            </a:r>
            <a:r>
              <a:rPr lang="en-US" b="1" dirty="0">
                <a:solidFill>
                  <a:schemeClr val="bg1"/>
                </a:solidFill>
              </a:rPr>
              <a:t>infer state </a:t>
            </a:r>
            <a:r>
              <a:rPr lang="en-US" dirty="0"/>
              <a:t>from the DOM</a:t>
            </a:r>
          </a:p>
          <a:p>
            <a:pPr lvl="1"/>
            <a:r>
              <a:rPr lang="en-US" dirty="0"/>
              <a:t>E.g., using the text content of an HTML element to reconstruct what a database record looked like</a:t>
            </a:r>
          </a:p>
          <a:p>
            <a:r>
              <a:rPr lang="en-US" dirty="0"/>
              <a:t>Try to write </a:t>
            </a:r>
            <a:r>
              <a:rPr lang="en-US" b="1" dirty="0">
                <a:solidFill>
                  <a:schemeClr val="bg1"/>
                </a:solidFill>
              </a:rPr>
              <a:t>declarative</a:t>
            </a:r>
            <a:r>
              <a:rPr lang="en-US" dirty="0"/>
              <a:t> DOM logic:</a:t>
            </a:r>
          </a:p>
          <a:p>
            <a:pPr lvl="1"/>
            <a:r>
              <a:rPr lang="en-US" dirty="0"/>
              <a:t>Describe what the DOM </a:t>
            </a:r>
            <a:r>
              <a:rPr lang="en-US" b="1" dirty="0">
                <a:solidFill>
                  <a:schemeClr val="bg1"/>
                </a:solidFill>
              </a:rPr>
              <a:t>should</a:t>
            </a:r>
            <a:r>
              <a:rPr lang="en-US" dirty="0"/>
              <a:t> look like for a given </a:t>
            </a:r>
            <a:r>
              <a:rPr lang="en-US" b="1" dirty="0">
                <a:solidFill>
                  <a:schemeClr val="bg1"/>
                </a:solidFill>
              </a:rPr>
              <a:t>state</a:t>
            </a:r>
          </a:p>
          <a:p>
            <a:pPr lvl="1"/>
            <a:r>
              <a:rPr lang="en-US" dirty="0"/>
              <a:t>When the state </a:t>
            </a:r>
            <a:r>
              <a:rPr lang="en-US" b="1" dirty="0">
                <a:solidFill>
                  <a:schemeClr val="bg1"/>
                </a:solidFill>
              </a:rPr>
              <a:t>changes</a:t>
            </a:r>
            <a:r>
              <a:rPr lang="en-US" dirty="0"/>
              <a:t>, the DOM </a:t>
            </a:r>
            <a:r>
              <a:rPr lang="en-US" b="1" dirty="0">
                <a:solidFill>
                  <a:schemeClr val="bg1"/>
                </a:solidFill>
              </a:rPr>
              <a:t>follows</a:t>
            </a:r>
          </a:p>
          <a:p>
            <a:pPr lvl="1"/>
            <a:r>
              <a:rPr lang="en-US" dirty="0"/>
              <a:t>Rendering libraries allow for </a:t>
            </a:r>
            <a:r>
              <a:rPr lang="en-US" b="1" dirty="0">
                <a:solidFill>
                  <a:schemeClr val="bg1"/>
                </a:solidFill>
              </a:rPr>
              <a:t>efficient DOM redraws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E74608-89B6-43DA-9FF3-408316B3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247236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95635-C84B-4D11-A969-9AE8A2892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3B4C-8B3D-4676-BB2E-38A07DE41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Attempt to couple application content with the </a:t>
            </a:r>
            <a:r>
              <a:rPr lang="en-US" b="1" dirty="0">
                <a:solidFill>
                  <a:schemeClr val="bg1"/>
                </a:solidFill>
              </a:rPr>
              <a:t>URL route</a:t>
            </a:r>
          </a:p>
          <a:p>
            <a:pPr lvl="1"/>
            <a:r>
              <a:rPr lang="en-US" dirty="0"/>
              <a:t>This allows more efficient use of </a:t>
            </a:r>
            <a:r>
              <a:rPr lang="en-US" b="1" dirty="0">
                <a:solidFill>
                  <a:schemeClr val="bg1"/>
                </a:solidFill>
              </a:rPr>
              <a:t>browser history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sharing</a:t>
            </a:r>
            <a:r>
              <a:rPr lang="en-US" dirty="0"/>
              <a:t> links to specific parts of the application</a:t>
            </a:r>
          </a:p>
          <a:p>
            <a:pPr lvl="1"/>
            <a:r>
              <a:rPr lang="en-US" dirty="0"/>
              <a:t>Can be done with </a:t>
            </a:r>
            <a:r>
              <a:rPr lang="en-US" b="1" dirty="0">
                <a:solidFill>
                  <a:schemeClr val="bg1"/>
                </a:solidFill>
              </a:rPr>
              <a:t>paths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query parameters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fragments</a:t>
            </a: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Search terms </a:t>
            </a:r>
            <a:r>
              <a:rPr lang="en-US" dirty="0"/>
              <a:t>should be included as query parameters</a:t>
            </a:r>
          </a:p>
          <a:p>
            <a:pPr lvl="1"/>
            <a:r>
              <a:rPr lang="en-US" dirty="0"/>
              <a:t>If a catalog is paginated, include the </a:t>
            </a:r>
            <a:r>
              <a:rPr lang="en-US" b="1" dirty="0">
                <a:solidFill>
                  <a:schemeClr val="bg1"/>
                </a:solidFill>
              </a:rPr>
              <a:t>current page </a:t>
            </a:r>
            <a:r>
              <a:rPr lang="en-US" dirty="0"/>
              <a:t>in the URL</a:t>
            </a:r>
          </a:p>
          <a:p>
            <a:pPr lvl="1"/>
            <a:r>
              <a:rPr lang="en-US" dirty="0"/>
              <a:t>Toggleable content or </a:t>
            </a:r>
            <a:r>
              <a:rPr lang="en-US" b="1" dirty="0">
                <a:solidFill>
                  <a:schemeClr val="bg1"/>
                </a:solidFill>
              </a:rPr>
              <a:t>sub-navigation</a:t>
            </a:r>
            <a:r>
              <a:rPr lang="en-US" dirty="0"/>
              <a:t> can also be included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4A8513-182B-4EFE-B42A-A72CD365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</p:spTree>
    <p:extLst>
      <p:ext uri="{BB962C8B-B14F-4D97-AF65-F5344CB8AC3E}">
        <p14:creationId xmlns:p14="http://schemas.microsoft.com/office/powerpoint/2010/main" val="408704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03BFA-A5E6-4BF9-BB01-036E4A7A8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B4FFE-D3C1-414C-A233-B33A41AF6A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Provide </a:t>
            </a:r>
            <a:r>
              <a:rPr lang="en-US" b="1" dirty="0">
                <a:solidFill>
                  <a:schemeClr val="bg1"/>
                </a:solidFill>
              </a:rPr>
              <a:t>instant acknowledgement </a:t>
            </a:r>
            <a:r>
              <a:rPr lang="en-US" dirty="0"/>
              <a:t>for user actions:</a:t>
            </a:r>
          </a:p>
          <a:p>
            <a:pPr lvl="1"/>
            <a:r>
              <a:rPr lang="en-US" dirty="0"/>
              <a:t>Change appearance when links and buttons are </a:t>
            </a:r>
            <a:r>
              <a:rPr lang="en-US" b="1" dirty="0">
                <a:solidFill>
                  <a:schemeClr val="bg1"/>
                </a:solidFill>
              </a:rPr>
              <a:t>clicked</a:t>
            </a:r>
          </a:p>
          <a:p>
            <a:pPr lvl="1"/>
            <a:r>
              <a:rPr lang="en-US" dirty="0"/>
              <a:t>Clear the view on </a:t>
            </a:r>
            <a:r>
              <a:rPr lang="en-US" b="1" dirty="0">
                <a:solidFill>
                  <a:schemeClr val="bg1"/>
                </a:solidFill>
              </a:rPr>
              <a:t>navigation</a:t>
            </a:r>
          </a:p>
          <a:p>
            <a:pPr lvl="1"/>
            <a:r>
              <a:rPr lang="en-US" dirty="0"/>
              <a:t>Show </a:t>
            </a:r>
            <a:r>
              <a:rPr lang="en-US" b="1" dirty="0">
                <a:solidFill>
                  <a:schemeClr val="bg1"/>
                </a:solidFill>
              </a:rPr>
              <a:t>loading indicators </a:t>
            </a:r>
            <a:r>
              <a:rPr lang="en-US" dirty="0"/>
              <a:t>during network requests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Disable input </a:t>
            </a:r>
            <a:r>
              <a:rPr lang="en-US" dirty="0"/>
              <a:t>during requests, to prevent double submission</a:t>
            </a:r>
          </a:p>
          <a:p>
            <a:r>
              <a:rPr lang="en-US" dirty="0"/>
              <a:t>Don't overdo feedback: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Don't</a:t>
            </a:r>
            <a:r>
              <a:rPr lang="en-US" dirty="0"/>
              <a:t> attempt to validate input before the user has finished</a:t>
            </a:r>
          </a:p>
          <a:p>
            <a:pPr lvl="1"/>
            <a:r>
              <a:rPr lang="en-US" dirty="0"/>
              <a:t>There's </a:t>
            </a:r>
            <a:r>
              <a:rPr lang="en-US" b="1" dirty="0">
                <a:solidFill>
                  <a:schemeClr val="bg1"/>
                </a:solidFill>
              </a:rPr>
              <a:t>no need </a:t>
            </a:r>
            <a:r>
              <a:rPr lang="en-US" dirty="0"/>
              <a:t>to show notifications for everything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822223-850D-4B9E-AE9A-68BD955C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Feedback</a:t>
            </a:r>
          </a:p>
        </p:txBody>
      </p:sp>
    </p:spTree>
    <p:extLst>
      <p:ext uri="{BB962C8B-B14F-4D97-AF65-F5344CB8AC3E}">
        <p14:creationId xmlns:p14="http://schemas.microsoft.com/office/powerpoint/2010/main" val="134162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DA54DF-E5DE-4284-9B6D-53478F66F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07863-D0EA-49BA-95D8-BE3378474D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Always </a:t>
            </a:r>
            <a:r>
              <a:rPr lang="en-US" b="1" dirty="0">
                <a:solidFill>
                  <a:schemeClr val="bg1"/>
                </a:solidFill>
              </a:rPr>
              <a:t>sanitize</a:t>
            </a:r>
            <a:r>
              <a:rPr lang="en-US" dirty="0"/>
              <a:t> user input:</a:t>
            </a:r>
          </a:p>
          <a:p>
            <a:pPr lvl="1"/>
            <a:r>
              <a:rPr lang="en-US" dirty="0"/>
              <a:t>Remove leading and trailing </a:t>
            </a:r>
            <a:r>
              <a:rPr lang="en-US" b="1" dirty="0">
                <a:solidFill>
                  <a:schemeClr val="bg1"/>
                </a:solidFill>
              </a:rPr>
              <a:t>whitespace</a:t>
            </a:r>
          </a:p>
          <a:p>
            <a:pPr lvl="1"/>
            <a:r>
              <a:rPr lang="en-US" dirty="0"/>
              <a:t>Do not automatically include all form data in the request – only pick the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  <a:r>
              <a:rPr lang="en-US" dirty="0"/>
              <a:t> that are </a:t>
            </a:r>
            <a:r>
              <a:rPr lang="en-US" b="1" dirty="0">
                <a:solidFill>
                  <a:schemeClr val="bg1"/>
                </a:solidFill>
              </a:rPr>
              <a:t>part of the collection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Prevent</a:t>
            </a:r>
            <a:r>
              <a:rPr lang="en-US" dirty="0"/>
              <a:t> insertion of </a:t>
            </a:r>
            <a:r>
              <a:rPr lang="en-US" b="1" dirty="0"/>
              <a:t>HTML</a:t>
            </a:r>
            <a:r>
              <a:rPr lang="en-US" dirty="0"/>
              <a:t> anywhere in your code</a:t>
            </a:r>
          </a:p>
          <a:p>
            <a:pPr lvl="1"/>
            <a:r>
              <a:rPr lang="en-US" b="1" u="sng" dirty="0"/>
              <a:t>Never</a:t>
            </a:r>
            <a:r>
              <a:rPr lang="en-US" dirty="0"/>
              <a:t> use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eval</a:t>
            </a:r>
            <a:r>
              <a:rPr lang="en-US" dirty="0"/>
              <a:t> where user input is involved</a:t>
            </a:r>
          </a:p>
          <a:p>
            <a:r>
              <a:rPr lang="en-US" dirty="0"/>
              <a:t>Remember that the front-end application </a:t>
            </a:r>
            <a:r>
              <a:rPr lang="en-US" b="1" dirty="0">
                <a:solidFill>
                  <a:schemeClr val="bg1"/>
                </a:solidFill>
              </a:rPr>
              <a:t>does not </a:t>
            </a:r>
            <a:r>
              <a:rPr lang="en-US" dirty="0"/>
              <a:t>provide security – the </a:t>
            </a:r>
            <a:r>
              <a:rPr lang="en-US" b="1" dirty="0">
                <a:solidFill>
                  <a:schemeClr val="bg1"/>
                </a:solidFill>
              </a:rPr>
              <a:t>server</a:t>
            </a:r>
            <a:r>
              <a:rPr lang="en-US" dirty="0"/>
              <a:t> must </a:t>
            </a:r>
            <a:r>
              <a:rPr lang="en-US" b="1" dirty="0">
                <a:solidFill>
                  <a:schemeClr val="bg1"/>
                </a:solidFill>
              </a:rPr>
              <a:t>double check </a:t>
            </a:r>
            <a:r>
              <a:rPr lang="en-US" dirty="0"/>
              <a:t>all user actions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1609EF-6167-4F95-9350-A3BBC141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281813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06B4D-4120-4685-8FE3-9DA7EB838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D5DC6-CBA6-4F94-9948-B48A13F19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Always </a:t>
            </a:r>
            <a:r>
              <a:rPr lang="en-US" b="1" dirty="0">
                <a:solidFill>
                  <a:schemeClr val="bg1"/>
                </a:solidFill>
              </a:rPr>
              <a:t>anticipate errors </a:t>
            </a:r>
            <a:r>
              <a:rPr lang="en-US" dirty="0"/>
              <a:t>from </a:t>
            </a:r>
            <a:r>
              <a:rPr lang="en-US" b="1" dirty="0">
                <a:solidFill>
                  <a:schemeClr val="bg1"/>
                </a:solidFill>
              </a:rPr>
              <a:t>network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requests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user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input</a:t>
            </a:r>
          </a:p>
          <a:p>
            <a:r>
              <a:rPr lang="en-US" dirty="0"/>
              <a:t>Errors that can be </a:t>
            </a:r>
            <a:r>
              <a:rPr lang="en-US" b="1" dirty="0">
                <a:solidFill>
                  <a:schemeClr val="bg1"/>
                </a:solidFill>
              </a:rPr>
              <a:t>resolved automatically </a:t>
            </a:r>
            <a:r>
              <a:rPr lang="en-US" dirty="0"/>
              <a:t>can be handled </a:t>
            </a:r>
            <a:r>
              <a:rPr lang="en-US" b="1" dirty="0">
                <a:solidFill>
                  <a:schemeClr val="bg1"/>
                </a:solidFill>
              </a:rPr>
              <a:t>behind the scenes</a:t>
            </a:r>
          </a:p>
          <a:p>
            <a:pPr lvl="1"/>
            <a:r>
              <a:rPr lang="en-US" dirty="0"/>
              <a:t>You can </a:t>
            </a:r>
            <a:r>
              <a:rPr lang="en-US" b="1" dirty="0">
                <a:solidFill>
                  <a:schemeClr val="bg1"/>
                </a:solidFill>
              </a:rPr>
              <a:t>catch</a:t>
            </a:r>
            <a:r>
              <a:rPr lang="en-US" dirty="0"/>
              <a:t> them where they occur</a:t>
            </a:r>
          </a:p>
          <a:p>
            <a:pPr lvl="1"/>
            <a:r>
              <a:rPr lang="en-US" dirty="0"/>
              <a:t>E.g., data parsing errors, empty server responses, etc.</a:t>
            </a:r>
          </a:p>
          <a:p>
            <a:r>
              <a:rPr lang="en-US" dirty="0"/>
              <a:t>Errors that </a:t>
            </a:r>
            <a:r>
              <a:rPr lang="en-US" b="1" dirty="0">
                <a:solidFill>
                  <a:schemeClr val="bg1"/>
                </a:solidFill>
              </a:rPr>
              <a:t>concern user action </a:t>
            </a:r>
            <a:r>
              <a:rPr lang="en-US" dirty="0"/>
              <a:t>must be </a:t>
            </a:r>
            <a:r>
              <a:rPr lang="en-US" b="1" dirty="0">
                <a:solidFill>
                  <a:schemeClr val="bg1"/>
                </a:solidFill>
              </a:rPr>
              <a:t>propagated</a:t>
            </a:r>
            <a:r>
              <a:rPr lang="en-US" dirty="0"/>
              <a:t> to the </a:t>
            </a:r>
            <a:r>
              <a:rPr lang="en-US" b="1" dirty="0">
                <a:solidFill>
                  <a:schemeClr val="bg1"/>
                </a:solidFill>
              </a:rPr>
              <a:t>presentation layer </a:t>
            </a:r>
            <a:r>
              <a:rPr lang="en-US" dirty="0"/>
              <a:t>of the app (</a:t>
            </a:r>
            <a:r>
              <a:rPr lang="en-US" b="1" dirty="0">
                <a:solidFill>
                  <a:schemeClr val="bg1"/>
                </a:solidFill>
              </a:rPr>
              <a:t>rethrow</a:t>
            </a:r>
            <a:r>
              <a:rPr lang="en-US" dirty="0"/>
              <a:t>, or don't catch)</a:t>
            </a:r>
          </a:p>
          <a:p>
            <a:pPr lvl="1"/>
            <a:r>
              <a:rPr lang="en-US" dirty="0"/>
              <a:t>E.g., validation errors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5F9FC8-9281-41FF-8A53-D19235A8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58213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56A635-7DCB-4737-9977-C486C791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bg-BG" dirty="0"/>
          </a:p>
        </p:txBody>
      </p:sp>
      <p:pic>
        <p:nvPicPr>
          <p:cNvPr id="17" name="Picture 16" descr="Graphical user interface, text, applicatio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17217D7-0BF6-4D9E-8E3B-E4C13EC5C3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2" t="2384" r="19064" b="23051"/>
          <a:stretch/>
        </p:blipFill>
        <p:spPr>
          <a:xfrm>
            <a:off x="349673" y="2849671"/>
            <a:ext cx="2217855" cy="1092173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low confidence">
            <a:hlinkClick r:id="rId4"/>
            <a:extLst>
              <a:ext uri="{FF2B5EF4-FFF2-40B4-BE49-F238E27FC236}">
                <a16:creationId xmlns:a16="http://schemas.microsoft.com/office/drawing/2014/main" id="{04A6A894-8A9A-4E5B-88D1-24F9A2F84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60" y="2356669"/>
            <a:ext cx="2089504" cy="1639964"/>
          </a:xfrm>
          <a:prstGeom prst="rect">
            <a:avLst/>
          </a:prstGeom>
        </p:spPr>
      </p:pic>
      <p:pic>
        <p:nvPicPr>
          <p:cNvPr id="25" name="Picture 24" descr="Graphical user interface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83257898-7623-4DC1-92DC-C5AD2AC74C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126" y="1687971"/>
            <a:ext cx="2045805" cy="2515334"/>
          </a:xfrm>
          <a:prstGeom prst="rect">
            <a:avLst/>
          </a:prstGeom>
        </p:spPr>
      </p:pic>
      <p:pic>
        <p:nvPicPr>
          <p:cNvPr id="27" name="Picture 26" descr="Logo&#10;&#10;Description automatically generated with low confidence">
            <a:hlinkClick r:id="rId8"/>
            <a:extLst>
              <a:ext uri="{FF2B5EF4-FFF2-40B4-BE49-F238E27FC236}">
                <a16:creationId xmlns:a16="http://schemas.microsoft.com/office/drawing/2014/main" id="{C179D76D-17E7-4F4E-9808-BBF903658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61" y="1597174"/>
            <a:ext cx="5116914" cy="876716"/>
          </a:xfrm>
          <a:prstGeom prst="rect">
            <a:avLst/>
          </a:prstGeom>
        </p:spPr>
      </p:pic>
      <p:pic>
        <p:nvPicPr>
          <p:cNvPr id="30" name="Picture 2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93F033DD-94F4-4599-9D64-B6A8BF4646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9" y="1238971"/>
            <a:ext cx="1824182" cy="1276927"/>
          </a:xfrm>
          <a:prstGeom prst="rect">
            <a:avLst/>
          </a:prstGeom>
        </p:spPr>
      </p:pic>
      <p:pic>
        <p:nvPicPr>
          <p:cNvPr id="22" name="Picture 21" descr="Text&#10;&#10;Description automatically generated with low confidence">
            <a:hlinkClick r:id="rId12"/>
            <a:extLst>
              <a:ext uri="{FF2B5EF4-FFF2-40B4-BE49-F238E27FC236}">
                <a16:creationId xmlns:a16="http://schemas.microsoft.com/office/drawing/2014/main" id="{2D9A9160-CFB1-4198-B631-320EFBF99E2C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811" y="4363706"/>
            <a:ext cx="2376275" cy="535946"/>
          </a:xfrm>
          <a:prstGeom prst="rect">
            <a:avLst/>
          </a:prstGeom>
        </p:spPr>
      </p:pic>
      <p:pic>
        <p:nvPicPr>
          <p:cNvPr id="21" name="Picture 20" descr="Logo, company name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B2C7AFA4-B03B-4F90-BCF5-42B64D45FD9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4" t="27513" r="15212" b="31480"/>
          <a:stretch/>
        </p:blipFill>
        <p:spPr>
          <a:xfrm>
            <a:off x="606404" y="5804742"/>
            <a:ext cx="1704391" cy="759297"/>
          </a:xfrm>
          <a:prstGeom prst="rect">
            <a:avLst/>
          </a:prstGeom>
        </p:spPr>
      </p:pic>
      <p:pic>
        <p:nvPicPr>
          <p:cNvPr id="28" name="Picture 27" descr="A picture containing logo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8D7EE580-66D1-490E-AB52-9AAD1973AD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41" y="4327206"/>
            <a:ext cx="1827471" cy="1092173"/>
          </a:xfrm>
          <a:prstGeom prst="rect">
            <a:avLst/>
          </a:prstGeom>
        </p:spPr>
      </p:pic>
      <p:pic>
        <p:nvPicPr>
          <p:cNvPr id="31" name="Picture 30" descr="Logo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51539337-EA92-4DEC-B27C-1C96A708D31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515" y="2643494"/>
            <a:ext cx="3631278" cy="1298350"/>
          </a:xfrm>
          <a:prstGeom prst="rect">
            <a:avLst/>
          </a:prstGeom>
        </p:spPr>
      </p:pic>
      <p:pic>
        <p:nvPicPr>
          <p:cNvPr id="32" name="Picture 31" descr="Logo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F70938FD-B0F5-423E-8C2C-99B884B6B0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735" y="5595629"/>
            <a:ext cx="2657856" cy="916485"/>
          </a:xfrm>
          <a:prstGeom prst="rect">
            <a:avLst/>
          </a:prstGeom>
        </p:spPr>
      </p:pic>
      <p:pic>
        <p:nvPicPr>
          <p:cNvPr id="33" name="Picture 32" descr="A picture containing logo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FFB981A5-A282-4429-A0A1-AD728C389669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554" y="5519375"/>
            <a:ext cx="2391414" cy="1145517"/>
          </a:xfrm>
          <a:prstGeom prst="rect">
            <a:avLst/>
          </a:prstGeom>
        </p:spPr>
      </p:pic>
      <p:pic>
        <p:nvPicPr>
          <p:cNvPr id="15" name="Picture 14" descr="Shape&#10;&#10;Description automatically generated with medium confidence">
            <a:hlinkClick r:id="rId24"/>
            <a:extLst>
              <a:ext uri="{FF2B5EF4-FFF2-40B4-BE49-F238E27FC236}">
                <a16:creationId xmlns:a16="http://schemas.microsoft.com/office/drawing/2014/main" id="{C54AECE5-A7C3-4F84-941E-EDAA4DCD24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76" y="4295780"/>
            <a:ext cx="2520171" cy="869659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7760FE36-8EB1-4B6F-A56E-4FE01D75DFB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598" y="4737801"/>
            <a:ext cx="3202860" cy="123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5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D5FB3-68F2-49D8-A153-8BAD1305E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22D599-06AA-45AE-9605-321A51F1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Partners</a:t>
            </a: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19D59668-3C9A-4BAE-83AF-92CB4591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450" y="1883975"/>
            <a:ext cx="3766935" cy="3521741"/>
          </a:xfrm>
          <a:prstGeom prst="rect">
            <a:avLst/>
          </a:prstGeom>
          <a:ln w="28575">
            <a:solidFill>
              <a:srgbClr val="44546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3475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</p:sld>
</file>

<file path=ppt/theme/theme1.xml><?xml version="1.0" encoding="utf-8"?>
<a:theme xmlns:a="http://schemas.openxmlformats.org/drawingml/2006/main" name="1_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678</Words>
  <Application>Microsoft Office PowerPoint</Application>
  <PresentationFormat>Широк екран</PresentationFormat>
  <Paragraphs>108</Paragraphs>
  <Slides>15</Slides>
  <Notes>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Wingdings 2</vt:lpstr>
      <vt:lpstr>1_SoftUni</vt:lpstr>
      <vt:lpstr>Modular Applications</vt:lpstr>
      <vt:lpstr>Table of Contents</vt:lpstr>
      <vt:lpstr>Have a Question?</vt:lpstr>
      <vt:lpstr>Best Practices</vt:lpstr>
      <vt:lpstr>Component Approach</vt:lpstr>
      <vt:lpstr>Application State</vt:lpstr>
      <vt:lpstr>Routing</vt:lpstr>
      <vt:lpstr>Action Feedback</vt:lpstr>
      <vt:lpstr>User Input</vt:lpstr>
      <vt:lpstr> Error Handling</vt:lpstr>
      <vt:lpstr>Questions?</vt:lpstr>
      <vt:lpstr>SoftUni Diamond Partners</vt:lpstr>
      <vt:lpstr>Educational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Applications</dc:title>
  <dc:subject>Software Development</dc:subject>
  <dc:creator>Software University</dc:creator>
  <cp:keywords>JS Applications; 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Sibina Stoyanova</cp:lastModifiedBy>
  <cp:revision>64</cp:revision>
  <dcterms:created xsi:type="dcterms:W3CDTF">2018-05-23T13:08:44Z</dcterms:created>
  <dcterms:modified xsi:type="dcterms:W3CDTF">2022-10-29T21:05:22Z</dcterms:modified>
  <cp:category>programming;computer programming;software development;web development</cp:category>
</cp:coreProperties>
</file>